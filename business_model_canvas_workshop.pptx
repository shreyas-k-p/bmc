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SNMIMT ENGINEERING COLLEGE</a:t>
            </a:r>
          </a:p>
          <a:p>
            <a:pPr>
              <a:spcBef>
                <a:spcPts val="200"/>
              </a:spcBef>
              <a:defRPr sz="850">
                <a:solidFill>
                  <a:srgbClr val="CBD5E1"/>
                </a:solidFill>
                <a:latin typeface="Arial"/>
              </a:defRPr>
            </a:pPr>
            <a:r>
              <a:t>Maliankara p.o, Moothakunnam, Ernakulam Dt, Kerala - 683 516</a:t>
            </a:r>
            <a:br/>
            <a:r>
              <a:t>Website : www.snmimt.edu.in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657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DD3FC"/>
                </a:solidFill>
                <a:latin typeface="Arial"/>
              </a:defRPr>
            </a:pPr>
            <a:r>
              <a:t>IEDC SNMIMT</a:t>
            </a:r>
          </a:p>
          <a:p>
            <a:pPr algn="ctr">
              <a:defRPr sz="850">
                <a:solidFill>
                  <a:srgbClr val="CBD5E1"/>
                </a:solidFill>
                <a:latin typeface="Arial"/>
              </a:defRPr>
            </a:pPr>
            <a:r>
              <a:t>Kerala Startup Mission</a:t>
            </a:r>
            <a:br/>
            <a:r>
              <a:t>INNOVATION AND ENTREPRENEURSHIP DEVELOPMENT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834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Arial"/>
              </a:defRPr>
            </a:pPr>
            <a:r>
              <a:t>ed</a:t>
            </a:r>
            <a:br/>
            <a:r>
              <a:t>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0" b="1">
                <a:solidFill>
                  <a:srgbClr val="E1EBF8"/>
                </a:solidFill>
                <a:latin typeface="Georgia"/>
              </a:defRPr>
            </a:pPr>
            <a:r>
              <a:t>BMC</a:t>
            </a:r>
          </a:p>
          <a:p>
            <a:pPr algn="ctr"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B U S I N E S S   M O D E L   C A N V A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16-09-2026</a:t>
            </a:r>
            <a:br/>
            <a:r>
              <a:t>2:00 PM - 4:00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852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7DD3FC"/>
                </a:solidFill>
                <a:latin typeface="Arial"/>
              </a:defRPr>
            </a:pPr>
            <a:r>
              <a:t>IEDC SNMIMT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55778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HANDLED BY -</a:t>
            </a:r>
          </a:p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SHREYAS K P</a:t>
            </a:r>
            <a:br/>
            <a:r>
              <a:t>IPR &amp; RESEARCH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DO GOOD PRODUCTS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3891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Some products have:</a:t>
            </a:r>
          </a:p>
          <a:p>
            <a:pPr>
              <a:spcAft>
                <a:spcPts val="8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✓ Great Technology</a:t>
            </a:r>
          </a:p>
          <a:p>
            <a:pPr>
              <a:spcAft>
                <a:spcPts val="8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✓ Innovative Features</a:t>
            </a:r>
          </a:p>
          <a:p>
            <a:pPr>
              <a:spcAft>
                <a:spcPts val="8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✓ Excellent Engineering</a:t>
            </a:r>
          </a:p>
          <a:p>
            <a:pPr>
              <a:spcAft>
                <a:spcPts val="800"/>
              </a:spcAft>
              <a:defRPr sz="1800" b="1">
                <a:solidFill>
                  <a:srgbClr val="34D399"/>
                </a:solidFill>
                <a:latin typeface="Arial"/>
              </a:defRPr>
            </a:pPr>
            <a:r>
              <a:t>✓ Strong Marketing</a:t>
            </a:r>
          </a:p>
          <a:p>
            <a:pPr>
              <a:spcBef>
                <a:spcPts val="1600"/>
              </a:spcBef>
              <a:defRPr sz="2000" b="1">
                <a:solidFill>
                  <a:srgbClr val="F87171"/>
                </a:solidFill>
                <a:latin typeface="Arial"/>
              </a:defRPr>
            </a:pPr>
            <a:r>
              <a:t>BUT STILL FAIL.</a:t>
            </a:r>
          </a:p>
        </p:txBody>
      </p:sp>
      <p:pic>
        <p:nvPicPr>
          <p:cNvPr id="5" name="Picture 4" descr="google_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3840480" cy="2867558"/>
          </a:xfrm>
          <a:prstGeom prst="rect">
            <a:avLst/>
          </a:prstGeom>
        </p:spPr>
      </p:pic>
      <p:pic>
        <p:nvPicPr>
          <p:cNvPr id="6" name="Picture 5" descr="windows_ph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108960"/>
            <a:ext cx="2286000" cy="3061607"/>
          </a:xfrm>
          <a:prstGeom prst="rect">
            <a:avLst/>
          </a:prstGeom>
        </p:spPr>
      </p:pic>
      <p:pic>
        <p:nvPicPr>
          <p:cNvPr id="7" name="Picture 6" descr="quib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108960"/>
            <a:ext cx="2286000" cy="30616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ACC15"/>
                </a:solidFill>
                <a:latin typeface="Arial"/>
              </a:defRPr>
            </a:pPr>
            <a:r>
              <a:t>💡 A GREAT PRODUCT DOESN'T GUARANTEE A GREAT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BUSINESS MODEL CANVAS</a:t>
            </a:r>
          </a:p>
          <a:p>
            <a:pPr algn="ctr">
              <a:spcBef>
                <a:spcPts val="400"/>
              </a:spcBef>
              <a:defRPr sz="1200">
                <a:solidFill>
                  <a:srgbClr val="7DD3FC"/>
                </a:solidFill>
                <a:latin typeface="Arial"/>
              </a:defRPr>
            </a:pPr>
            <a:r>
              <a:t>It breaks a business idea into 9 building blocks (like puzzle pieces) so that anyone can easily understand the whole business in a simple 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990" y="1536192"/>
            <a:ext cx="2136038" cy="3456432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KEY PARTNERS</a:t>
            </a:r>
          </a:p>
        </p:txBody>
      </p:sp>
      <p:sp>
        <p:nvSpPr>
          <p:cNvPr id="5" name="Oval 4"/>
          <p:cNvSpPr/>
          <p:nvPr/>
        </p:nvSpPr>
        <p:spPr>
          <a:xfrm>
            <a:off x="1439265" y="3163824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8180" y="1536192"/>
            <a:ext cx="2136038" cy="169164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KEY ACTIVITIES</a:t>
            </a:r>
          </a:p>
        </p:txBody>
      </p:sp>
      <p:sp>
        <p:nvSpPr>
          <p:cNvPr id="7" name="Oval 6"/>
          <p:cNvSpPr/>
          <p:nvPr/>
        </p:nvSpPr>
        <p:spPr>
          <a:xfrm>
            <a:off x="3648455" y="2281428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8180" y="3300984"/>
            <a:ext cx="2136038" cy="169164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KEY RESOURCES</a:t>
            </a:r>
          </a:p>
        </p:txBody>
      </p:sp>
      <p:sp>
        <p:nvSpPr>
          <p:cNvPr id="9" name="Oval 8"/>
          <p:cNvSpPr/>
          <p:nvPr/>
        </p:nvSpPr>
        <p:spPr>
          <a:xfrm>
            <a:off x="3648455" y="4046220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7370" y="1536192"/>
            <a:ext cx="2136038" cy="3456432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11" name="Oval 10"/>
          <p:cNvSpPr/>
          <p:nvPr/>
        </p:nvSpPr>
        <p:spPr>
          <a:xfrm>
            <a:off x="5857646" y="3163824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6561" y="1536192"/>
            <a:ext cx="2136038" cy="169164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CUSTOMER RELATIONSHIPS</a:t>
            </a:r>
          </a:p>
        </p:txBody>
      </p:sp>
      <p:sp>
        <p:nvSpPr>
          <p:cNvPr id="13" name="Oval 12"/>
          <p:cNvSpPr/>
          <p:nvPr/>
        </p:nvSpPr>
        <p:spPr>
          <a:xfrm>
            <a:off x="8066836" y="2281428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6561" y="3300984"/>
            <a:ext cx="2136038" cy="169164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CHANNELS</a:t>
            </a:r>
          </a:p>
        </p:txBody>
      </p:sp>
      <p:sp>
        <p:nvSpPr>
          <p:cNvPr id="15" name="Oval 14"/>
          <p:cNvSpPr/>
          <p:nvPr/>
        </p:nvSpPr>
        <p:spPr>
          <a:xfrm>
            <a:off x="8066836" y="4046220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45751" y="1536192"/>
            <a:ext cx="2136038" cy="3456432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17" name="Oval 16"/>
          <p:cNvSpPr/>
          <p:nvPr/>
        </p:nvSpPr>
        <p:spPr>
          <a:xfrm>
            <a:off x="10276026" y="3163824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" y="4992624"/>
            <a:ext cx="5449824" cy="128016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COST STRUCTURE</a:t>
            </a:r>
          </a:p>
        </p:txBody>
      </p:sp>
      <p:sp>
        <p:nvSpPr>
          <p:cNvPr id="19" name="Oval 18"/>
          <p:cNvSpPr/>
          <p:nvPr/>
        </p:nvSpPr>
        <p:spPr>
          <a:xfrm>
            <a:off x="3096158" y="5532120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966" y="4992624"/>
            <a:ext cx="5449824" cy="1280160"/>
          </a:xfrm>
          <a:prstGeom prst="roundRect">
            <a:avLst/>
          </a:prstGeom>
          <a:solidFill>
            <a:srgbClr val="0E1C4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REVENUE STREAMS</a:t>
            </a:r>
          </a:p>
        </p:txBody>
      </p:sp>
      <p:sp>
        <p:nvSpPr>
          <p:cNvPr id="21" name="Oval 20"/>
          <p:cNvSpPr/>
          <p:nvPr/>
        </p:nvSpPr>
        <p:spPr>
          <a:xfrm>
            <a:off x="8619134" y="5532120"/>
            <a:ext cx="475488" cy="475488"/>
          </a:xfrm>
          <a:prstGeom prst="ellipse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739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SO HOW IS BMC DIFFERENT</a:t>
            </a:r>
            <a:br/>
            <a:r>
              <a:t>FROM LEAN CANVA?</a:t>
            </a:r>
          </a:p>
          <a:p>
            <a:pPr algn="ctr">
              <a:spcBef>
                <a:spcPts val="1600"/>
              </a:spcBef>
              <a:defRPr sz="1600">
                <a:solidFill>
                  <a:srgbClr val="7DD3FC"/>
                </a:solidFill>
                <a:latin typeface="Arial"/>
              </a:defRPr>
            </a:pPr>
            <a:r>
              <a:t>🤔 Thinking about when to use which framework...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LEAN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8990" y="1536192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PROBLEM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top 1-3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990" y="3300984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EXISTING ALTERNATIVES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how these problems are solved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8180" y="1536192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SOLUTION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Outline a possible solution for each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8180" y="3300984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KEY METRICS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key numbers that tell you how business is doing.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7370" y="1536192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UNIQUE VALUE PROPOSITION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Single, clear, compelling message that states why you are different.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7370" y="3300984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HIGH-LEVEL CONCEPT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X for Y analogy e.g. YouTube = Flickr for videos.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6561" y="1536192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UNFAIR ADVANTAGE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Something that cannot easily be bought or copied.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36561" y="3300984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CHANNELS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path to customers (inbound or outbound).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45751" y="1536192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CUSTOMER SEGMENTS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target customers and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5751" y="3300984"/>
            <a:ext cx="2136038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EARLY ADOPTERS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characteristics of your ideal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" y="4992624"/>
            <a:ext cx="544982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COST STRUCTURE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fixed and variable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1966" y="4992624"/>
            <a:ext cx="544982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73152"/>
          <a:lstStyle/>
          <a:p>
            <a:pPr algn="l">
              <a:defRPr sz="1050" b="1">
                <a:solidFill>
                  <a:srgbClr val="0F172A"/>
                </a:solidFill>
                <a:latin typeface="Arial"/>
              </a:defRPr>
            </a:pPr>
            <a:r>
              <a:t>REVENUE STREAMS</a:t>
            </a:r>
          </a:p>
          <a:p>
            <a:pPr algn="l">
              <a:spcBef>
                <a:spcPts val="200"/>
              </a:spcBef>
              <a:defRPr sz="919">
                <a:solidFill>
                  <a:srgbClr val="475569"/>
                </a:solidFill>
                <a:latin typeface="Arial"/>
              </a:defRPr>
            </a:pPr>
            <a:r>
              <a:t>List your sources of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2377440"/>
          </a:xfrm>
          <a:prstGeom prst="roundRect">
            <a:avLst/>
          </a:prstGeom>
          <a:solidFill>
            <a:srgbClr val="E6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spcAft>
                <a:spcPts val="1000"/>
              </a:spcAft>
              <a:defRPr sz="1800" b="1">
                <a:solidFill>
                  <a:srgbClr val="1E1B4B"/>
                </a:solidFill>
                <a:latin typeface="Arial"/>
              </a:defRPr>
            </a:pPr>
            <a:r>
              <a:t>BMC IS USED TO:</a:t>
            </a:r>
          </a:p>
          <a:p>
            <a:pPr>
              <a:spcAft>
                <a:spcPts val="600"/>
              </a:spcAft>
              <a:defRPr sz="1500" b="1">
                <a:solidFill>
                  <a:srgbClr val="1E1B4B"/>
                </a:solidFill>
                <a:latin typeface="Arial"/>
              </a:defRPr>
            </a:pPr>
            <a:r>
              <a:t>◦ UNDERSTAND HOW A BUSINESS WORKS.</a:t>
            </a:r>
          </a:p>
          <a:p>
            <a:pPr>
              <a:spcAft>
                <a:spcPts val="600"/>
              </a:spcAft>
              <a:defRPr sz="1500" b="1">
                <a:solidFill>
                  <a:srgbClr val="1E1B4B"/>
                </a:solidFill>
                <a:latin typeface="Arial"/>
              </a:defRPr>
            </a:pPr>
            <a:r>
              <a:t>◦ SHOW INVESTORS OR TEAM MEMBERS YOUR BUSINESS MODEL.</a:t>
            </a:r>
          </a:p>
          <a:p>
            <a:pPr>
              <a:spcAft>
                <a:spcPts val="600"/>
              </a:spcAft>
              <a:defRPr sz="1500" b="1">
                <a:solidFill>
                  <a:srgbClr val="1E1B4B"/>
                </a:solidFill>
                <a:latin typeface="Arial"/>
              </a:defRPr>
            </a:pPr>
            <a:r>
              <a:t>◦ ANALYZE SUCCESSFUL COMPANIES.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566160"/>
            <a:ext cx="9997135" cy="2377440"/>
          </a:xfrm>
          <a:prstGeom prst="roundRect">
            <a:avLst/>
          </a:prstGeom>
          <a:solidFill>
            <a:srgbClr val="46D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spcAft>
                <a:spcPts val="1000"/>
              </a:spcAft>
              <a:defRPr sz="1800" b="1">
                <a:solidFill>
                  <a:srgbClr val="032B38"/>
                </a:solidFill>
                <a:latin typeface="Arial"/>
              </a:defRPr>
            </a:pPr>
            <a:r>
              <a:t>LEAN CANVAS IS USED TO:</a:t>
            </a:r>
          </a:p>
          <a:p>
            <a:pPr>
              <a:spcAft>
                <a:spcPts val="600"/>
              </a:spcAft>
              <a:defRPr sz="1500" b="1">
                <a:solidFill>
                  <a:srgbClr val="032B38"/>
                </a:solidFill>
                <a:latin typeface="Arial"/>
              </a:defRPr>
            </a:pPr>
            <a:r>
              <a:t>◦ QUICKLY TEST IF YOUR STARTUP IDEA MAKES SENSE.</a:t>
            </a:r>
          </a:p>
          <a:p>
            <a:pPr>
              <a:spcAft>
                <a:spcPts val="600"/>
              </a:spcAft>
              <a:defRPr sz="1500" b="1">
                <a:solidFill>
                  <a:srgbClr val="032B38"/>
                </a:solidFill>
                <a:latin typeface="Arial"/>
              </a:defRPr>
            </a:pPr>
            <a:r>
              <a:t>◦ FOCUS ON CUSTOMER PROBLEMS FIRST.</a:t>
            </a:r>
          </a:p>
          <a:p>
            <a:pPr>
              <a:spcAft>
                <a:spcPts val="600"/>
              </a:spcAft>
              <a:defRPr sz="1500" b="1">
                <a:solidFill>
                  <a:srgbClr val="032B38"/>
                </a:solidFill>
                <a:latin typeface="Arial"/>
              </a:defRPr>
            </a:pPr>
            <a:r>
              <a:t>◦ AVOID WASTING TIME BUILDING SOMETHING NOBODY WANTS.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4484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>
                <a:solidFill>
                  <a:srgbClr val="FFFFFF"/>
                </a:solidFill>
                <a:latin typeface="Georgia"/>
              </a:defRPr>
            </a:pPr>
            <a:r>
              <a:t>Group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